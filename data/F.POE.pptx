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8" r:id="rId1"/>
  </p:sldMasterIdLst>
  <p:sldIdLst>
    <p:sldId id="262" r:id="rId2"/>
    <p:sldId id="264" r:id="rId3"/>
    <p:sldId id="266" r:id="rId4"/>
    <p:sldId id="265" r:id="rId5"/>
    <p:sldId id="267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02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45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789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791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626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66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718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584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59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647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782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158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Synthèse des activités de formation et de sensibilisation Ebola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919959"/>
              </p:ext>
            </p:extLst>
          </p:nvPr>
        </p:nvGraphicFramePr>
        <p:xfrm>
          <a:off x="940903" y="1881807"/>
          <a:ext cx="10601740" cy="3260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0870">
                  <a:extLst>
                    <a:ext uri="{9D8B030D-6E8A-4147-A177-3AD203B41FA5}">
                      <a16:colId xmlns:a16="http://schemas.microsoft.com/office/drawing/2014/main" val="667412875"/>
                    </a:ext>
                  </a:extLst>
                </a:gridCol>
                <a:gridCol w="5300870">
                  <a:extLst>
                    <a:ext uri="{9D8B030D-6E8A-4147-A177-3AD203B41FA5}">
                      <a16:colId xmlns:a16="http://schemas.microsoft.com/office/drawing/2014/main" val="875368825"/>
                    </a:ext>
                  </a:extLst>
                </a:gridCol>
              </a:tblGrid>
              <a:tr h="671169">
                <a:tc>
                  <a:txBody>
                    <a:bodyPr/>
                    <a:lstStyle/>
                    <a:p>
                      <a:r>
                        <a:rPr lang="fr-FR" dirty="0"/>
                        <a:t>Activité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Cumul des agents formés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094589"/>
                  </a:ext>
                </a:extLst>
              </a:tr>
              <a:tr h="576304">
                <a:tc>
                  <a:txBody>
                    <a:bodyPr/>
                    <a:lstStyle/>
                    <a:p>
                      <a:r>
                        <a:rPr lang="fr-FR" dirty="0"/>
                        <a:t>Formation des Agents</a:t>
                      </a:r>
                      <a:r>
                        <a:rPr lang="fr-FR" baseline="0" dirty="0"/>
                        <a:t> de Santé Communautaire (ASC)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480469"/>
                  </a:ext>
                </a:extLst>
              </a:tr>
              <a:tr h="671169">
                <a:tc>
                  <a:txBody>
                    <a:bodyPr/>
                    <a:lstStyle/>
                    <a:p>
                      <a:r>
                        <a:rPr lang="fr-FR" dirty="0"/>
                        <a:t>Réunions de plaidoyer communautaire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697323"/>
                  </a:ext>
                </a:extLst>
              </a:tr>
              <a:tr h="671169">
                <a:tc>
                  <a:txBody>
                    <a:bodyPr/>
                    <a:lstStyle/>
                    <a:p>
                      <a:r>
                        <a:rPr lang="fr-FR" dirty="0"/>
                        <a:t>Formation du personnel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680130"/>
                  </a:ext>
                </a:extLst>
              </a:tr>
              <a:tr h="671169">
                <a:tc>
                  <a:txBody>
                    <a:bodyPr/>
                    <a:lstStyle/>
                    <a:p>
                      <a:r>
                        <a:rPr lang="fr-FR" dirty="0"/>
                        <a:t>Total général</a:t>
                      </a:r>
                      <a:r>
                        <a:rPr lang="fr-FR" baseline="0" dirty="0"/>
                        <a:t>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09634"/>
                  </a:ext>
                </a:extLst>
              </a:tr>
            </a:tbl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4824193" y="1173921"/>
            <a:ext cx="3843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BIMBO</a:t>
            </a:r>
          </a:p>
        </p:txBody>
      </p:sp>
    </p:spTree>
    <p:extLst>
      <p:ext uri="{BB962C8B-B14F-4D97-AF65-F5344CB8AC3E}">
        <p14:creationId xmlns:p14="http://schemas.microsoft.com/office/powerpoint/2010/main" val="2928338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District sanitaire de Bimbo : formation des Agents de Santé Communautaire ( 300 ASC)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996516"/>
              </p:ext>
            </p:extLst>
          </p:nvPr>
        </p:nvGraphicFramePr>
        <p:xfrm>
          <a:off x="646111" y="1753058"/>
          <a:ext cx="11087100" cy="4812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3550">
                  <a:extLst>
                    <a:ext uri="{9D8B030D-6E8A-4147-A177-3AD203B41FA5}">
                      <a16:colId xmlns:a16="http://schemas.microsoft.com/office/drawing/2014/main" val="667412875"/>
                    </a:ext>
                  </a:extLst>
                </a:gridCol>
                <a:gridCol w="5543550">
                  <a:extLst>
                    <a:ext uri="{9D8B030D-6E8A-4147-A177-3AD203B41FA5}">
                      <a16:colId xmlns:a16="http://schemas.microsoft.com/office/drawing/2014/main" val="875368825"/>
                    </a:ext>
                  </a:extLst>
                </a:gridCol>
              </a:tblGrid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Cumul des agents formés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094589"/>
                  </a:ext>
                </a:extLst>
              </a:tr>
              <a:tr h="465685">
                <a:tc>
                  <a:txBody>
                    <a:bodyPr/>
                    <a:lstStyle/>
                    <a:p>
                      <a:r>
                        <a:rPr lang="fr-FR" dirty="0"/>
                        <a:t>Bimon, Ndangala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480469"/>
                  </a:ext>
                </a:extLst>
              </a:tr>
              <a:tr h="471487">
                <a:tc>
                  <a:txBody>
                    <a:bodyPr/>
                    <a:lstStyle/>
                    <a:p>
                      <a:r>
                        <a:rPr lang="fr-FR" dirty="0"/>
                        <a:t>Maka, Samba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697323"/>
                  </a:ext>
                </a:extLst>
              </a:tr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Bimbo 2 (Guitangola)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680130"/>
                  </a:ext>
                </a:extLst>
              </a:tr>
              <a:tr h="208511">
                <a:tc>
                  <a:txBody>
                    <a:bodyPr/>
                    <a:lstStyle/>
                    <a:p>
                      <a:r>
                        <a:rPr lang="fr-FR" dirty="0"/>
                        <a:t>HD Bimbo et CS EMF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270145"/>
                  </a:ext>
                </a:extLst>
              </a:tr>
              <a:tr h="299951">
                <a:tc>
                  <a:txBody>
                    <a:bodyPr/>
                    <a:lstStyle/>
                    <a:p>
                      <a:r>
                        <a:rPr lang="fr-FR" dirty="0"/>
                        <a:t>Bilbo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575572"/>
                  </a:ext>
                </a:extLst>
              </a:tr>
              <a:tr h="299951">
                <a:tc>
                  <a:txBody>
                    <a:bodyPr/>
                    <a:lstStyle/>
                    <a:p>
                      <a:r>
                        <a:rPr lang="fr-FR" dirty="0"/>
                        <a:t>Cs Ndimba,Cs Salanga,Botambi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625990"/>
                  </a:ext>
                </a:extLst>
              </a:tr>
              <a:tr h="362816">
                <a:tc>
                  <a:txBody>
                    <a:bodyPr/>
                    <a:lstStyle/>
                    <a:p>
                      <a:r>
                        <a:rPr lang="fr-FR" dirty="0"/>
                        <a:t>CS</a:t>
                      </a:r>
                      <a:r>
                        <a:rPr lang="fr-FR" baseline="0" dirty="0"/>
                        <a:t> Yombo,Yatimbo,Post Sekia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78100"/>
                  </a:ext>
                </a:extLst>
              </a:tr>
              <a:tr h="354244">
                <a:tc>
                  <a:txBody>
                    <a:bodyPr/>
                    <a:lstStyle/>
                    <a:p>
                      <a:r>
                        <a:rPr lang="fr-FR" dirty="0"/>
                        <a:t>Bobele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04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758800"/>
                  </a:ext>
                </a:extLst>
              </a:tr>
              <a:tr h="259946">
                <a:tc>
                  <a:txBody>
                    <a:bodyPr/>
                    <a:lstStyle/>
                    <a:p>
                      <a:r>
                        <a:rPr lang="fr-FR" dirty="0"/>
                        <a:t>Mboko-Landja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143165"/>
                  </a:ext>
                </a:extLst>
              </a:tr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Bimbo3 (Kokoro ,</a:t>
                      </a:r>
                      <a:r>
                        <a:rPr lang="fr-FR" dirty="0" err="1"/>
                        <a:t>Sakaî</a:t>
                      </a:r>
                      <a:r>
                        <a:rPr lang="fr-FR" dirty="0"/>
                        <a:t> , </a:t>
                      </a:r>
                      <a:r>
                        <a:rPr lang="fr-FR" dirty="0" err="1"/>
                        <a:t>Ngoulanga</a:t>
                      </a:r>
                      <a:r>
                        <a:rPr lang="fr-FR" dirty="0"/>
                        <a:t> 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87513"/>
                  </a:ext>
                </a:extLst>
              </a:tr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Total général</a:t>
                      </a:r>
                      <a:r>
                        <a:rPr lang="fr-FR" baseline="0" dirty="0"/>
                        <a:t>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09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018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7536" y="95532"/>
            <a:ext cx="10126664" cy="847444"/>
          </a:xfrm>
        </p:spPr>
        <p:txBody>
          <a:bodyPr>
            <a:normAutofit fontScale="90000"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Formation du personnel des points d’entrée (157 staffs formés)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465955"/>
              </p:ext>
            </p:extLst>
          </p:nvPr>
        </p:nvGraphicFramePr>
        <p:xfrm>
          <a:off x="257173" y="1114426"/>
          <a:ext cx="11658602" cy="3715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9301">
                  <a:extLst>
                    <a:ext uri="{9D8B030D-6E8A-4147-A177-3AD203B41FA5}">
                      <a16:colId xmlns:a16="http://schemas.microsoft.com/office/drawing/2014/main" val="667412875"/>
                    </a:ext>
                  </a:extLst>
                </a:gridCol>
                <a:gridCol w="5829301">
                  <a:extLst>
                    <a:ext uri="{9D8B030D-6E8A-4147-A177-3AD203B41FA5}">
                      <a16:colId xmlns:a16="http://schemas.microsoft.com/office/drawing/2014/main" val="875368825"/>
                    </a:ext>
                  </a:extLst>
                </a:gridCol>
              </a:tblGrid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Participants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094589"/>
                  </a:ext>
                </a:extLst>
              </a:tr>
              <a:tr h="465685">
                <a:tc>
                  <a:txBody>
                    <a:bodyPr/>
                    <a:lstStyle/>
                    <a:p>
                      <a:r>
                        <a:rPr lang="fr-FR" dirty="0"/>
                        <a:t>Les personnels des points d’entrée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480469"/>
                  </a:ext>
                </a:extLst>
              </a:tr>
              <a:tr h="471487">
                <a:tc>
                  <a:txBody>
                    <a:bodyPr/>
                    <a:lstStyle/>
                    <a:p>
                      <a:r>
                        <a:rPr lang="fr-FR" dirty="0"/>
                        <a:t>Non-résidents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697323"/>
                  </a:ext>
                </a:extLst>
              </a:tr>
              <a:tr h="208511">
                <a:tc>
                  <a:txBody>
                    <a:bodyPr/>
                    <a:lstStyle/>
                    <a:p>
                      <a:r>
                        <a:rPr lang="fr-FR" dirty="0"/>
                        <a:t>Participants</a:t>
                      </a:r>
                      <a:r>
                        <a:rPr lang="fr-FR" baseline="0" dirty="0"/>
                        <a:t> resident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270145"/>
                  </a:ext>
                </a:extLst>
              </a:tr>
              <a:tr h="362816">
                <a:tc>
                  <a:txBody>
                    <a:bodyPr/>
                    <a:lstStyle/>
                    <a:p>
                      <a:r>
                        <a:rPr lang="fr-FR" dirty="0"/>
                        <a:t>Chauffeur</a:t>
                      </a:r>
                      <a:r>
                        <a:rPr lang="fr-FR" baseline="0" dirty="0"/>
                        <a:t>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78100"/>
                  </a:ext>
                </a:extLst>
              </a:tr>
              <a:tr h="259946">
                <a:tc>
                  <a:txBody>
                    <a:bodyPr/>
                    <a:lstStyle/>
                    <a:p>
                      <a:r>
                        <a:rPr lang="fr-FR" dirty="0"/>
                        <a:t>MCD</a:t>
                      </a:r>
                      <a:r>
                        <a:rPr lang="fr-FR" baseline="0" dirty="0"/>
                        <a:t> et MCH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143165"/>
                  </a:ext>
                </a:extLst>
              </a:tr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Equipe</a:t>
                      </a:r>
                      <a:r>
                        <a:rPr lang="fr-FR" baseline="0" dirty="0"/>
                        <a:t> régionale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87513"/>
                  </a:ext>
                </a:extLst>
              </a:tr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Equipes</a:t>
                      </a:r>
                      <a:r>
                        <a:rPr lang="fr-FR" baseline="0" dirty="0"/>
                        <a:t> niveau central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8576"/>
                  </a:ext>
                </a:extLst>
              </a:tr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Total général</a:t>
                      </a:r>
                      <a:r>
                        <a:rPr lang="fr-FR" baseline="0" dirty="0"/>
                        <a:t>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09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458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59363" y="95531"/>
            <a:ext cx="9404723" cy="1018895"/>
          </a:xfrm>
        </p:spPr>
        <p:txBody>
          <a:bodyPr/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Réunions de plaidoyer Bimbo centre ( 243 participants : autorités locales, leaders communautaires )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099761"/>
              </p:ext>
            </p:extLst>
          </p:nvPr>
        </p:nvGraphicFramePr>
        <p:xfrm>
          <a:off x="257173" y="1114426"/>
          <a:ext cx="11658602" cy="5561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9301">
                  <a:extLst>
                    <a:ext uri="{9D8B030D-6E8A-4147-A177-3AD203B41FA5}">
                      <a16:colId xmlns:a16="http://schemas.microsoft.com/office/drawing/2014/main" val="667412875"/>
                    </a:ext>
                  </a:extLst>
                </a:gridCol>
                <a:gridCol w="5829301">
                  <a:extLst>
                    <a:ext uri="{9D8B030D-6E8A-4147-A177-3AD203B41FA5}">
                      <a16:colId xmlns:a16="http://schemas.microsoft.com/office/drawing/2014/main" val="875368825"/>
                    </a:ext>
                  </a:extLst>
                </a:gridCol>
              </a:tblGrid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Participants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094589"/>
                  </a:ext>
                </a:extLst>
              </a:tr>
              <a:tr h="465685">
                <a:tc>
                  <a:txBody>
                    <a:bodyPr/>
                    <a:lstStyle/>
                    <a:p>
                      <a:r>
                        <a:rPr lang="fr-FR" dirty="0"/>
                        <a:t>Bimbo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480469"/>
                  </a:ext>
                </a:extLst>
              </a:tr>
              <a:tr h="471487">
                <a:tc>
                  <a:txBody>
                    <a:bodyPr/>
                    <a:lstStyle/>
                    <a:p>
                      <a:r>
                        <a:rPr lang="fr-FR" dirty="0"/>
                        <a:t>Non-résidents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697323"/>
                  </a:ext>
                </a:extLst>
              </a:tr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Sous-préfet</a:t>
                      </a:r>
                      <a:r>
                        <a:rPr lang="fr-FR" baseline="0" dirty="0"/>
                        <a:t> et Maire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680130"/>
                  </a:ext>
                </a:extLst>
              </a:tr>
              <a:tr h="208511">
                <a:tc>
                  <a:txBody>
                    <a:bodyPr/>
                    <a:lstStyle/>
                    <a:p>
                      <a:r>
                        <a:rPr lang="fr-FR" dirty="0" err="1"/>
                        <a:t>Botambi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Salanga,Ndimba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270145"/>
                  </a:ext>
                </a:extLst>
              </a:tr>
              <a:tr h="299951">
                <a:tc>
                  <a:txBody>
                    <a:bodyPr/>
                    <a:lstStyle/>
                    <a:p>
                      <a:r>
                        <a:rPr lang="fr-FR" dirty="0" err="1"/>
                        <a:t>Bimou</a:t>
                      </a:r>
                      <a:r>
                        <a:rPr lang="fr-FR" dirty="0"/>
                        <a:t> ,</a:t>
                      </a:r>
                      <a:r>
                        <a:rPr lang="fr-FR" dirty="0" err="1"/>
                        <a:t>Ndangala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Sekia,Yomba,Yatimbo,Bobele,CAMP</a:t>
                      </a:r>
                      <a:r>
                        <a:rPr lang="fr-FR" dirty="0"/>
                        <a:t> de Roux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625990"/>
                  </a:ext>
                </a:extLst>
              </a:tr>
              <a:tr h="362816">
                <a:tc>
                  <a:txBody>
                    <a:bodyPr/>
                    <a:lstStyle/>
                    <a:p>
                      <a:r>
                        <a:rPr lang="fr-FR" dirty="0"/>
                        <a:t>Bimbo</a:t>
                      </a:r>
                      <a:r>
                        <a:rPr lang="fr-FR" baseline="0" dirty="0"/>
                        <a:t> 2 (Guitangola)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78100"/>
                  </a:ext>
                </a:extLst>
              </a:tr>
              <a:tr h="354244">
                <a:tc>
                  <a:txBody>
                    <a:bodyPr/>
                    <a:lstStyle/>
                    <a:p>
                      <a:r>
                        <a:rPr lang="fr-FR" dirty="0"/>
                        <a:t>Bimbo</a:t>
                      </a:r>
                      <a:r>
                        <a:rPr lang="fr-FR" baseline="0" dirty="0"/>
                        <a:t> 3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758800"/>
                  </a:ext>
                </a:extLst>
              </a:tr>
              <a:tr h="259946">
                <a:tc>
                  <a:txBody>
                    <a:bodyPr/>
                    <a:lstStyle/>
                    <a:p>
                      <a:r>
                        <a:rPr lang="fr-FR" dirty="0"/>
                        <a:t>Chef</a:t>
                      </a:r>
                      <a:r>
                        <a:rPr lang="fr-FR" baseline="0" dirty="0"/>
                        <a:t> de quartier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143165"/>
                  </a:ext>
                </a:extLst>
              </a:tr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Maire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87513"/>
                  </a:ext>
                </a:extLst>
              </a:tr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Chef</a:t>
                      </a:r>
                      <a:r>
                        <a:rPr lang="fr-FR" baseline="0" dirty="0"/>
                        <a:t> de quartier  Bimbo 5( </a:t>
                      </a:r>
                      <a:r>
                        <a:rPr lang="fr-FR" baseline="0" dirty="0" err="1"/>
                        <a:t>Mboko</a:t>
                      </a:r>
                      <a:r>
                        <a:rPr lang="fr-FR" baseline="0" dirty="0"/>
                        <a:t>-</a:t>
                      </a:r>
                      <a:r>
                        <a:rPr lang="fr-FR" baseline="0" dirty="0" err="1"/>
                        <a:t>Landja,Ladja,Biel</a:t>
                      </a:r>
                      <a:r>
                        <a:rPr lang="fr-FR" baseline="0" dirty="0"/>
                        <a:t>-Espoir)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08576"/>
                  </a:ext>
                </a:extLst>
              </a:tr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Bimbo</a:t>
                      </a:r>
                      <a:r>
                        <a:rPr lang="fr-FR" baseline="0" dirty="0"/>
                        <a:t> 5</a:t>
                      </a:r>
                      <a:r>
                        <a:rPr lang="fr-FR" dirty="0"/>
                        <a:t> (Chef de centre</a:t>
                      </a:r>
                      <a:r>
                        <a:rPr lang="fr-FR" baseline="0" dirty="0"/>
                        <a:t> et Maire)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05</a:t>
                      </a:r>
                      <a:r>
                        <a:rPr lang="fr-FR" baseline="0" dirty="0"/>
                        <a:t>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378833"/>
                  </a:ext>
                </a:extLst>
              </a:tr>
              <a:tr h="420139">
                <a:tc>
                  <a:txBody>
                    <a:bodyPr/>
                    <a:lstStyle/>
                    <a:p>
                      <a:r>
                        <a:rPr lang="fr-FR" dirty="0"/>
                        <a:t>Total général</a:t>
                      </a:r>
                      <a:r>
                        <a:rPr lang="fr-FR" baseline="0" dirty="0"/>
                        <a:t>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09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990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21851"/>
              </p:ext>
            </p:extLst>
          </p:nvPr>
        </p:nvGraphicFramePr>
        <p:xfrm>
          <a:off x="1290281" y="1708727"/>
          <a:ext cx="5747829" cy="3802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620">
                  <a:extLst>
                    <a:ext uri="{9D8B030D-6E8A-4147-A177-3AD203B41FA5}">
                      <a16:colId xmlns:a16="http://schemas.microsoft.com/office/drawing/2014/main" val="4076247925"/>
                    </a:ext>
                  </a:extLst>
                </a:gridCol>
                <a:gridCol w="1015134">
                  <a:extLst>
                    <a:ext uri="{9D8B030D-6E8A-4147-A177-3AD203B41FA5}">
                      <a16:colId xmlns:a16="http://schemas.microsoft.com/office/drawing/2014/main" val="2281101015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3281515953"/>
                    </a:ext>
                  </a:extLst>
                </a:gridCol>
                <a:gridCol w="1663845">
                  <a:extLst>
                    <a:ext uri="{9D8B030D-6E8A-4147-A177-3AD203B41FA5}">
                      <a16:colId xmlns:a16="http://schemas.microsoft.com/office/drawing/2014/main" val="1853756592"/>
                    </a:ext>
                  </a:extLst>
                </a:gridCol>
              </a:tblGrid>
              <a:tr h="86342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Activité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TDR élaboré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TDR validé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Nmbre</a:t>
                      </a:r>
                      <a:r>
                        <a:rPr lang="fr-FR" dirty="0"/>
                        <a:t> de participants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41190"/>
                  </a:ext>
                </a:extLst>
              </a:tr>
              <a:tr h="431711">
                <a:tc>
                  <a:txBody>
                    <a:bodyPr/>
                    <a:lstStyle/>
                    <a:p>
                      <a:r>
                        <a:rPr lang="fr-FR" sz="1200" dirty="0"/>
                        <a:t>Formation CHU PK24</a:t>
                      </a:r>
                    </a:p>
                    <a:p>
                      <a:r>
                        <a:rPr lang="fr-FR" sz="1200" dirty="0"/>
                        <a:t>Prestation de soins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069656"/>
                  </a:ext>
                </a:extLst>
              </a:tr>
              <a:tr h="604396">
                <a:tc>
                  <a:txBody>
                    <a:bodyPr/>
                    <a:lstStyle/>
                    <a:p>
                      <a:r>
                        <a:rPr lang="fr-FR" sz="1200" dirty="0"/>
                        <a:t>Formation CHU PK24-Administration et </a:t>
                      </a:r>
                      <a:r>
                        <a:rPr lang="fr-FR" sz="1200" dirty="0" err="1"/>
                        <a:t>maintenanciers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796954"/>
                  </a:ext>
                </a:extLst>
              </a:tr>
              <a:tr h="604396">
                <a:tc>
                  <a:txBody>
                    <a:bodyPr/>
                    <a:lstStyle/>
                    <a:p>
                      <a:r>
                        <a:rPr lang="fr-FR" sz="1200" dirty="0"/>
                        <a:t>Formation CHU PK24-Hygiénistes,agents</a:t>
                      </a:r>
                      <a:r>
                        <a:rPr lang="fr-FR" sz="1200" baseline="0" dirty="0"/>
                        <a:t> de sécurité et chauffeurs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676944"/>
                  </a:ext>
                </a:extLst>
              </a:tr>
              <a:tr h="597416">
                <a:tc>
                  <a:txBody>
                    <a:bodyPr/>
                    <a:lstStyle/>
                    <a:p>
                      <a:r>
                        <a:rPr lang="fr-FR" sz="1200" dirty="0"/>
                        <a:t>Formation CHU Maman Domitien-Administrateurs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852653"/>
                  </a:ext>
                </a:extLst>
              </a:tr>
              <a:tr h="604396">
                <a:tc>
                  <a:txBody>
                    <a:bodyPr/>
                    <a:lstStyle/>
                    <a:p>
                      <a:r>
                        <a:rPr lang="fr-FR" sz="1200" dirty="0"/>
                        <a:t>Formation CNHUB+CHUA-Administration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356900"/>
                  </a:ext>
                </a:extLst>
              </a:tr>
            </a:tbl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8950036" y="1708727"/>
            <a:ext cx="29279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Nombre total de sessions de formation : </a:t>
            </a:r>
            <a:r>
              <a:rPr lang="fr-FR" b="1" dirty="0"/>
              <a:t>5</a:t>
            </a:r>
            <a:endParaRPr lang="fr-FR" dirty="0"/>
          </a:p>
          <a:p>
            <a:r>
              <a:rPr lang="fr-FR" dirty="0"/>
              <a:t>Nombre total de participants formés : </a:t>
            </a:r>
            <a:r>
              <a:rPr lang="fr-FR" b="1" dirty="0"/>
              <a:t>225 personnes</a:t>
            </a:r>
            <a:endParaRPr lang="fr-FR" dirty="0"/>
          </a:p>
          <a:p>
            <a:pPr lvl="1"/>
            <a:r>
              <a:rPr lang="fr-FR" dirty="0"/>
              <a:t>Prestataires de soins : </a:t>
            </a:r>
            <a:r>
              <a:rPr lang="fr-FR" b="1" dirty="0"/>
              <a:t>39</a:t>
            </a:r>
            <a:endParaRPr lang="fr-FR" dirty="0"/>
          </a:p>
          <a:p>
            <a:pPr lvl="1"/>
            <a:r>
              <a:rPr lang="fr-FR" dirty="0"/>
              <a:t>Administrateurs et </a:t>
            </a:r>
            <a:r>
              <a:rPr lang="fr-FR" dirty="0" err="1"/>
              <a:t>maintenanciers</a:t>
            </a:r>
            <a:r>
              <a:rPr lang="fr-FR" dirty="0"/>
              <a:t> : </a:t>
            </a:r>
            <a:r>
              <a:rPr lang="fr-FR" b="1" dirty="0"/>
              <a:t>35</a:t>
            </a:r>
            <a:endParaRPr lang="fr-FR" dirty="0"/>
          </a:p>
          <a:p>
            <a:pPr lvl="1"/>
            <a:r>
              <a:rPr lang="fr-FR" dirty="0"/>
              <a:t>Hygiénistes, agents de sécurité et chauffeurs : </a:t>
            </a:r>
            <a:r>
              <a:rPr lang="fr-FR" b="1" dirty="0"/>
              <a:t>51</a:t>
            </a:r>
            <a:endParaRPr lang="fr-FR" dirty="0"/>
          </a:p>
          <a:p>
            <a:pPr lvl="1"/>
            <a:r>
              <a:rPr lang="fr-FR" dirty="0"/>
              <a:t>Administrateurs CHU Maman Domitien : </a:t>
            </a:r>
            <a:r>
              <a:rPr lang="fr-FR" b="1" dirty="0"/>
              <a:t>50</a:t>
            </a:r>
            <a:endParaRPr lang="fr-FR" dirty="0"/>
          </a:p>
          <a:p>
            <a:pPr lvl="1"/>
            <a:r>
              <a:rPr lang="fr-FR" dirty="0"/>
              <a:t>Administrateurs CNHUB + CHUA : </a:t>
            </a:r>
            <a:r>
              <a:rPr lang="fr-FR" b="1" dirty="0"/>
              <a:t>50</a:t>
            </a:r>
            <a:endParaRPr lang="fr-FR" dirty="0"/>
          </a:p>
          <a:p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2318327" y="434109"/>
            <a:ext cx="603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1-Situation des TDR et financements-Formation</a:t>
            </a:r>
          </a:p>
        </p:txBody>
      </p:sp>
    </p:spTree>
    <p:extLst>
      <p:ext uri="{BB962C8B-B14F-4D97-AF65-F5344CB8AC3E}">
        <p14:creationId xmlns:p14="http://schemas.microsoft.com/office/powerpoint/2010/main" val="13638401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1057</TotalTime>
  <Words>342</Words>
  <Application>Microsoft Office PowerPoint</Application>
  <PresentationFormat>Widescreen</PresentationFormat>
  <Paragraphs>116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Thème Office</vt:lpstr>
      <vt:lpstr>Synthèse des activités de formation et de sensibilisation Ebola</vt:lpstr>
      <vt:lpstr>District sanitaire de Bimbo : formation des Agents de Santé Communautaire ( 300 ASC)</vt:lpstr>
      <vt:lpstr>Formation du personnel des points d’entrée (157 staffs formés)</vt:lpstr>
      <vt:lpstr>Réunions de plaidoyer Bimbo centre ( 243 participants : autorités locales, leaders communautaires 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Windows</dc:creator>
  <cp:lastModifiedBy>user</cp:lastModifiedBy>
  <cp:revision>43</cp:revision>
  <dcterms:created xsi:type="dcterms:W3CDTF">2026-06-19T05:48:43Z</dcterms:created>
  <dcterms:modified xsi:type="dcterms:W3CDTF">2026-06-24T17:09:26Z</dcterms:modified>
</cp:coreProperties>
</file>